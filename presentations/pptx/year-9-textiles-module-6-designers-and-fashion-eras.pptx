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b52fbd8a1348b5" /><Relationship Type="http://schemas.openxmlformats.org/officeDocument/2006/relationships/extended-properties" Target="/docProps/app.xml" Id="Raf0c9956004f4219" /><Relationship Type="http://schemas.openxmlformats.org/officeDocument/2006/relationships/officeDocument" Target="/ppt/presentation.xml" Id="R03debdd5c5d043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6cc0f6bb5e42c7"/>
  </p:sldMasterIdLst>
  <p:notesMasterIdLst>
    <p:notesMasterId xmlns:r="http://schemas.openxmlformats.org/officeDocument/2006/relationships" r:id="R030cf2339d214b44"/>
  </p:notesMasterIdLst>
  <p:sldIdLst>
    <p:sldId xmlns:r="http://schemas.openxmlformats.org/officeDocument/2006/relationships" id="256" r:id="Rb52088253d864e0e"/>
    <p:sldId xmlns:r="http://schemas.openxmlformats.org/officeDocument/2006/relationships" id="257" r:id="Re5cbf52c70d048e8"/>
    <p:sldId xmlns:r="http://schemas.openxmlformats.org/officeDocument/2006/relationships" id="258" r:id="R62bdb2edb9de4788"/>
    <p:sldId xmlns:r="http://schemas.openxmlformats.org/officeDocument/2006/relationships" id="259" r:id="Rd9a1e55dff9845e4"/>
    <p:sldId xmlns:r="http://schemas.openxmlformats.org/officeDocument/2006/relationships" id="260" r:id="R32e512d2895f4e81"/>
    <p:sldId xmlns:r="http://schemas.openxmlformats.org/officeDocument/2006/relationships" id="261" r:id="Ra3ee63252b7e4b25"/>
    <p:sldId xmlns:r="http://schemas.openxmlformats.org/officeDocument/2006/relationships" id="262" r:id="Ra710fd6223c647a6"/>
    <p:sldId xmlns:r="http://schemas.openxmlformats.org/officeDocument/2006/relationships" id="263" r:id="Re19a4a314162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c1859b1b414de7" /><Relationship Type="http://schemas.openxmlformats.org/officeDocument/2006/relationships/slideMaster" Target="/ppt/slideMasters/slideMaster1.xml" Id="R876cc0f6bb5e42c7" /><Relationship Type="http://schemas.openxmlformats.org/officeDocument/2006/relationships/notesMaster" Target="/ppt/notesMasters/notesMaster1.xml" Id="R030cf2339d214b44" /><Relationship Type="http://schemas.openxmlformats.org/officeDocument/2006/relationships/presProps" Target="/ppt/presProps.xml" Id="Rce725cb17dbd4c5b" /><Relationship Type="http://schemas.openxmlformats.org/officeDocument/2006/relationships/tableStyles" Target="/ppt/tableStyles.xml" Id="Rdf8d0e433e614625" /><Relationship Type="http://schemas.openxmlformats.org/officeDocument/2006/relationships/slide" Target="/ppt/slides/slide1.xml" Id="Rb52088253d864e0e" /><Relationship Type="http://schemas.openxmlformats.org/officeDocument/2006/relationships/slide" Target="/ppt/slides/slide2.xml" Id="Re5cbf52c70d048e8" /><Relationship Type="http://schemas.openxmlformats.org/officeDocument/2006/relationships/slide" Target="/ppt/slides/slide3.xml" Id="R62bdb2edb9de4788" /><Relationship Type="http://schemas.openxmlformats.org/officeDocument/2006/relationships/slide" Target="/ppt/slides/slide4.xml" Id="Rd9a1e55dff9845e4" /><Relationship Type="http://schemas.openxmlformats.org/officeDocument/2006/relationships/slide" Target="/ppt/slides/slide5.xml" Id="R32e512d2895f4e81" /><Relationship Type="http://schemas.openxmlformats.org/officeDocument/2006/relationships/slide" Target="/ppt/slides/slide6.xml" Id="Ra3ee63252b7e4b25" /><Relationship Type="http://schemas.openxmlformats.org/officeDocument/2006/relationships/slide" Target="/ppt/slides/slide7.xml" Id="Ra710fd6223c647a6" /><Relationship Type="http://schemas.openxmlformats.org/officeDocument/2006/relationships/slide" Target="/ppt/slides/slide8.xml" Id="Re19a4a314162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fcf0f7428740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9eefe6e1b84f46" /><Relationship Type="http://schemas.openxmlformats.org/officeDocument/2006/relationships/notesMaster" Target="/ppt/notesMasters/notesMaster1.xml" Id="Rabe44c47410a4d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2ccf6c294f46f0" /><Relationship Type="http://schemas.openxmlformats.org/officeDocument/2006/relationships/notesMaster" Target="/ppt/notesMasters/notesMaster1.xml" Id="Rbf3864052d1d4b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34ead178034a62" /><Relationship Type="http://schemas.openxmlformats.org/officeDocument/2006/relationships/notesMaster" Target="/ppt/notesMasters/notesMaster1.xml" Id="Rf62e4edbc91f49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9e161bf2954203" /><Relationship Type="http://schemas.openxmlformats.org/officeDocument/2006/relationships/notesMaster" Target="/ppt/notesMasters/notesMaster1.xml" Id="Rcf9245c20a1247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b61a224c874c76" /><Relationship Type="http://schemas.openxmlformats.org/officeDocument/2006/relationships/notesMaster" Target="/ppt/notesMasters/notesMaster1.xml" Id="Ra615f8e5d6944d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f7c9065f78477b" /><Relationship Type="http://schemas.openxmlformats.org/officeDocument/2006/relationships/notesMaster" Target="/ppt/notesMasters/notesMaster1.xml" Id="R4cc754e4ee714f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e5bf3f316746d9" /><Relationship Type="http://schemas.openxmlformats.org/officeDocument/2006/relationships/notesMaster" Target="/ppt/notesMasters/notesMaster1.xml" Id="R6c912f4dda7a4d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43781b5c7f4457" /><Relationship Type="http://schemas.openxmlformats.org/officeDocument/2006/relationships/notesMaster" Target="/ppt/notesMasters/notesMaster1.xml" Id="R15605d2122a6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6, module summary and evidence sequence.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assets/visuals/fashion-timeline.svg,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State the module purpose. Ask students which part of the topic feels familiar and which part is new.</a:t>
            </a:r>
          </a:p>
          <a:p xmlns:a="http://schemas.openxmlformats.org/drawingml/2006/main">
            <a:r>
              <a:t>Slide 1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6, all three section titles and first facts.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assets/visuals/magazine-evidence-map.svg,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Give students 30 seconds of silent retrieval, then connect their responses to the three-part learning map.</a:t>
            </a:r>
          </a:p>
          <a:p xmlns:a="http://schemas.openxmlformats.org/drawingml/2006/main">
            <a:r>
              <a:t>Slide 2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6, Section 1: Fashion eras and historical influence.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assets/visuals/fashion-era-influence.svg,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3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6, Section 2: Designer practice and target markets.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assets/visuals/designer-market.svg,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4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6, Section 3: Magazine research and respectful evidence.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assets/visuals/respectful-magazine.svg,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5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6, retrieval questions generated from the first fact in each section.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Keep the first attempt closed-book. Accuracy improves when students check and visibly correct the response afterwards.</a:t>
            </a:r>
          </a:p>
          <a:p xmlns:a="http://schemas.openxmlformats.org/drawingml/2006/main">
            <a:r>
              <a:t>Slide 6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6, Section 3 evidence prompt plus the course response scaffold.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Model the four-step process aloud. Students should be able to point to the fact and the explanation in their finished response.</a:t>
            </a:r>
          </a:p>
          <a:p xmlns:a="http://schemas.openxmlformats.org/drawingml/2006/main">
            <a:r>
              <a:t>Slide 7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6, module evidence summary and student next step.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Collect a brief spoken or written exit response. Remind students that the website and teacher directions control the practical next step.</a:t>
            </a:r>
          </a:p>
          <a:p xmlns:a="http://schemas.openxmlformats.org/drawingml/2006/main">
            <a:r>
              <a:t>Slide 8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9afd9ca1f4e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9b30c24d634cc4" /><Relationship Type="http://schemas.openxmlformats.org/officeDocument/2006/relationships/slideLayout" Target="/ppt/slideLayouts/slideLayout1.xml" Id="R5afc4125557549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c4125557549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d58485af84760" /><Relationship Type="http://schemas.openxmlformats.org/officeDocument/2006/relationships/image" Target="/ppt/media/image.png" Id="Rfbcf209c309641b4" /><Relationship Type="http://schemas.openxmlformats.org/officeDocument/2006/relationships/notesSlide" Target="/ppt/notesSlides/notesSlide1.xml" Id="Rc52c2db70fce46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9666c377c411e" /><Relationship Type="http://schemas.openxmlformats.org/officeDocument/2006/relationships/image" Target="/ppt/media/image2.png" Id="R02f0686e67af41aa" /><Relationship Type="http://schemas.openxmlformats.org/officeDocument/2006/relationships/notesSlide" Target="/ppt/notesSlides/notesSlide2.xml" Id="R76630038f58041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336bfcbcf4d58" /><Relationship Type="http://schemas.openxmlformats.org/officeDocument/2006/relationships/image" Target="/ppt/media/image3.png" Id="Rd025608d90154bdf" /><Relationship Type="http://schemas.openxmlformats.org/officeDocument/2006/relationships/notesSlide" Target="/ppt/notesSlides/notesSlide3.xml" Id="R1e7c5c0f127040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80c970a9c498e" /><Relationship Type="http://schemas.openxmlformats.org/officeDocument/2006/relationships/image" Target="/ppt/media/image4.png" Id="R2aa0aaf0ce194284" /><Relationship Type="http://schemas.openxmlformats.org/officeDocument/2006/relationships/notesSlide" Target="/ppt/notesSlides/notesSlide4.xml" Id="Rf5a695763b3847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410d693934075" /><Relationship Type="http://schemas.openxmlformats.org/officeDocument/2006/relationships/image" Target="/ppt/media/image5.png" Id="Ra1aaff024bc04007" /><Relationship Type="http://schemas.openxmlformats.org/officeDocument/2006/relationships/notesSlide" Target="/ppt/notesSlides/notesSlide5.xml" Id="R8c6ca051e49f42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f5b6ccb1b4805" /><Relationship Type="http://schemas.openxmlformats.org/officeDocument/2006/relationships/notesSlide" Target="/ppt/notesSlides/notesSlide6.xml" Id="R64fedd1dc9b84f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431389a094800" /><Relationship Type="http://schemas.openxmlformats.org/officeDocument/2006/relationships/notesSlide" Target="/ppt/notesSlides/notesSlide7.xml" Id="Rb123e362d55b4d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f188a29894bb8" /><Relationship Type="http://schemas.openxmlformats.org/officeDocument/2006/relationships/notesSlide" Target="/ppt/notesSlides/notesSlide8.xml" Id="R99eab4926c5f41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65107-E63A-4E8D-8182-D1827C48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D4213-97A8-451D-B423-A6146A5D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9137C-6516-449B-8613-3371A137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2C70E-0802-406D-B465-983B8DA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33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YEAR 9 TEXTILES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B4459-A4EC-4474-8E4C-40835EE3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9053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Designers &amp; fashion eras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1D8C9-34EA-4463-AC70-9DB5EA0A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72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Investigate fashion history, designer practice, inspiration, target markets and the way earlier design features reappear in contemporary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0F959-9F6B-469A-B90F-DF196F6D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65E29-2138-4936-88B4-FFC5280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TODAY: understand → retrieve → explain → save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E2ABC-A3DB-4CD9-B0F7-4C861D08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19150"/>
            <a:ext cx="5353050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f209c309641b4"/>
          <a:stretch xmlns:a="http://schemas.openxmlformats.org/drawingml/2006/main"/>
        </p:blipFill>
        <p:spPr>
          <a:xfrm xmlns:a="http://schemas.openxmlformats.org/drawingml/2006/main">
            <a:off x="6381750" y="2266156"/>
            <a:ext cx="4895850" cy="2039938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53ECC-7ABA-4119-ABAF-2731A501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4586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D346B-4370-4350-B6FF-BC4683B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56AB6-3245-4513-934C-82E089E8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LEARNING MAP + RETRIEVAL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567E0-365B-4FB9-8430-2781D87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Three ideas to connect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35363-410F-490E-A4EE-6750A770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DA296-34FC-42B0-B3AF-1C558337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F7EC4-91EB-42B1-8D2D-890F835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73450-3A20-4141-A159-02238D73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5A9EC-8140-4E6C-B4D8-A3698E47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F8011-8E12-43E1-A5AC-1F47A56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Fashion eras and historical influence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D602C-C164-46D3-AE39-5AB91F6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Fashion changes with social, technological and material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B1C57-607B-4E40-90CE-94C53862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87F89-9BA6-4641-AE88-E75D200C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B8AA9-9835-4A9D-85B3-B15CCB39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Designer practice and target markets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0C4DC-F36E-4B6C-8944-60B563DD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0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Styling, material quality, price and marketing shape a designer's image.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C93D4-5153-45CA-8B81-3F05A8DD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8402A-1B95-433A-AD70-00BAEAAD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3B1C5-F1C6-4CF5-95F0-00E69D8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Magazine research and respectful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649E5-79AE-45C5-8FF2-A6C2D40F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task requires two magazine articles.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B5C51-3D0E-45F7-AD8F-34096B38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257550" cy="3276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0686e67af41aa"/>
          <a:stretch xmlns:a="http://schemas.openxmlformats.org/drawingml/2006/main"/>
        </p:blipFill>
        <p:spPr>
          <a:xfrm xmlns:a="http://schemas.openxmlformats.org/drawingml/2006/main">
            <a:off x="8496300" y="1916113"/>
            <a:ext cx="2762250" cy="1749425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EE4BF-3231-417E-8A52-E7955508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RETRIEVE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55DF7-FAE8-4073-864A-22A80923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Without notes: say one fact you already know and one question you need answered.</a:t>
            </a:r>
          </a:p>
        </p:txBody>
      </p:sp>
    </p:spTree>
    <p:extLst>
      <p:ext uri="{BB962C8B-B14F-4D97-AF65-F5344CB8AC3E}">
        <p14:creationId xmlns:p14="http://schemas.microsoft.com/office/powerpoint/2010/main" val="280856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1D1F0-F1DD-4000-B102-E83D07CF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1ED37-B016-4326-95A6-700E7EEC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3984F-3E00-4432-92FB-AE9FFC52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Fashion eras and historical influence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4E01A-B250-4D7F-9124-90EC01A7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D57C1-8415-490B-A981-2BF2C8FA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FF21C-AFB4-41B2-B353-6D82FEE0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38634-139D-4010-97B8-89F2507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FB653-3403-4A8D-B97E-7D3F12DB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B2C2C-029E-431B-B59F-CF7FAF7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41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Fashion changes with social, technological and material conditions.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Clothing reflects the circumstances and values of its time.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Industrialisation supported sewing-machine use and ready-to-wear production.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Technology changed how garments could be manufactured and sold.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Historical features can reappear in contemporary fashion.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Designers reinterpret silhouettes, details or materials for a new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179C4-CB36-4DB4-9F2D-ABCCD6A3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5608d90154bdf"/>
          <a:stretch xmlns:a="http://schemas.openxmlformats.org/drawingml/2006/main"/>
        </p:blipFill>
        <p:spPr>
          <a:xfrm xmlns:a="http://schemas.openxmlformats.org/drawingml/2006/main">
            <a:off x="6419850" y="2031206"/>
            <a:ext cx="4857750" cy="2509838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AA6DD-EADD-4465-B15A-80051A99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6AA80-BD99-4437-9F3D-878D0CD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29D10-5C76-460B-B7E0-073093C0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26811-BC0E-4A7F-BA50-D1CB5EDC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a fashion era and explain two design features and one way the era influences contemporary fashion.</a:t>
            </a:r>
          </a:p>
        </p:txBody>
      </p:sp>
    </p:spTree>
    <p:extLst>
      <p:ext uri="{BB962C8B-B14F-4D97-AF65-F5344CB8AC3E}">
        <p14:creationId xmlns:p14="http://schemas.microsoft.com/office/powerpoint/2010/main" val="986744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81E18-D44D-40B6-9072-907A41AC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0AA44-0379-46EA-8B5F-F85D9F87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67DD8-64DD-4E8D-B974-E021103E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Designer practice and target markets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54101-9BB5-4CF9-9865-F131CF97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DCC3E-53D9-4E79-88B8-B8529D52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43B2B-ECC6-4643-85EC-5F4E776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93E96-C9D4-4CDD-9472-13AFE2A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D6D0-AF69-462A-908E-ADD95BE1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271DF-DD28-4219-A39B-A840859D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Styling, material quality, price and marketing shape a designer's image.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These decisions communicate position and target market.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Haute couture is custom made for private clients.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uses made-to-order design, fittings and specialist production.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Ready-to-wear is produced in sizes for retail sale.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Customers can select from prepared styles and take the garment home.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217CA-185A-49FA-B998-35F23480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0aaf0ce194284"/>
          <a:stretch xmlns:a="http://schemas.openxmlformats.org/drawingml/2006/main"/>
        </p:blipFill>
        <p:spPr>
          <a:xfrm xmlns:a="http://schemas.openxmlformats.org/drawingml/2006/main">
            <a:off x="914400" y="2031206"/>
            <a:ext cx="4857750" cy="2509838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D08A7-3B4F-4816-BC6C-62F25574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11186-0A9B-493D-A8A4-1776F56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65643-7D20-4FB2-809E-BE448ECB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6F165-509D-43EC-96E0-4ABB8A6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Compare haute couture and ready-to-wear, then explain how a designer's target market changes their decisions.</a:t>
            </a:r>
          </a:p>
        </p:txBody>
      </p:sp>
    </p:spTree>
    <p:extLst>
      <p:ext uri="{BB962C8B-B14F-4D97-AF65-F5344CB8AC3E}">
        <p14:creationId xmlns:p14="http://schemas.microsoft.com/office/powerpoint/2010/main" val="519100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3ADA8-254F-4F14-9FE6-9E53E8F7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A5029-9743-4FAA-B758-85F901FB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8AD7E-87DB-4FBB-8045-A2A4DEB4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Magazine research and respectful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DEE55-9CB0-4014-BB4F-C956ADDD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520FB-9731-4D9A-A04F-A36C5BDD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85B66-D0CF-4BD7-92D5-0C2851C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C5859-8D62-49D7-93D2-635DF1D1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26A46-FB3B-4995-8E3C-80956B5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24F11-49EE-4471-99E0-32056677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task requires two magazine articles.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One covers a fashion era and one presents a textile-designer interview.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Magazine styling should support readable information.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Layout and images communicate best when hierarchy remains clear.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Images require captions and APA references.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reader must be able to identify and trace the source.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2D4B5-EEDD-4C7B-B052-4CD67C5E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aff024bc04007"/>
          <a:stretch xmlns:a="http://schemas.openxmlformats.org/drawingml/2006/main"/>
        </p:blipFill>
        <p:spPr>
          <a:xfrm xmlns:a="http://schemas.openxmlformats.org/drawingml/2006/main">
            <a:off x="6419850" y="2031206"/>
            <a:ext cx="4857750" cy="2509838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DBE6D-2991-4D28-B3DA-FDAD14D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38205-B0AB-4FD3-9CA1-9F253DE2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D3195-042C-436A-825D-378F9467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411483-E60E-415F-8EA0-5D74666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Plan the two magazine articles, including headings, image evidence and how you will reference sources respectfully.</a:t>
            </a:r>
          </a:p>
        </p:txBody>
      </p:sp>
    </p:spTree>
    <p:extLst>
      <p:ext uri="{BB962C8B-B14F-4D97-AF65-F5344CB8AC3E}">
        <p14:creationId xmlns:p14="http://schemas.microsoft.com/office/powerpoint/2010/main" val="18685520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03412-69BF-4567-B6AB-2F4241C5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98BED-F3F4-4550-89B5-81B4516E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NO NOTES FOR THE FIRST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845FA-EC1E-4F88-84C4-01F4C968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Retrieve before you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45E90-A2AD-4184-92F9-86DD20D4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46D20-589D-4E6F-A42C-F781E7D1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89360-7C3F-46CD-967D-E51FA2DD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D2074-C5D2-4685-9BA3-D41AE3AC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F6200-4AF9-469D-B0D0-68830AC0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2DA96-049A-4E66-8F76-D0F5F19C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Fashion eras and historical influence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81EDA-5517-4F6C-A5A3-B3E1C80C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Define fashion eras and historical influence in your own words and give one course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CCB3F-D8A0-45D2-8A1C-6B59FD07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B3D3E-60D2-449C-8028-D3131503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BDEBB-6192-4AB7-AFED-75E86D8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Designer practice and target markets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1DA9C-331C-4AB0-AEC4-909B382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Why does designer practice and target markets matter to a successful textile outcome?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BF631-2257-4795-B1E7-8B629B49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4D511-3812-4C87-BA75-7E510C3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27528-5159-4F40-A065-D10276F1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Magazine research and respectful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AFB06-B241-4ABA-8097-41D146B3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What evidence would prove you understand magazine research and respectful evidence?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E0933-1642-46AB-9E39-9B94CEFF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Attempt → check the module → correct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412408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BA3014-8E4C-4EE3-BE14-1C193314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EB86C-D25B-4F1A-9FFC-83CD73DE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READ → SELECT → EXPLAIN →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C4C08-A368-459F-B52D-2F927490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Build one strong written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FC57-00E9-4B1A-A9C4-069530B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2F938-7F86-403E-B388-70E8A8B9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0CFD0-C6C9-4067-B764-D04329F1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D5443-9AB6-4C67-8E1E-7D6095BA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0F48E-CBA6-4A4C-8600-A36086F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3A26A-1C64-486E-B1C5-ED5D4E23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Plan the two magazine articles, including headings, image evidence and how you will reference sources respectfully.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A64C6-4CAA-489D-B2DF-A580BBBA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FD5D7-5F0E-42E5-A72A-C60C4C7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4A415-6885-421D-9E25-5771997D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3E7B2-480A-407B-864F-C1567D9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Underline the action word and the exact topic.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3C1B5-5857-4070-A506-6E41834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9E8D8-D1B7-4ABF-94D1-04294DE7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DECC9-4E65-4FC2-A969-1B44C2E2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32FCD-0114-4441-A60F-2440BD98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two or three course facts that answer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F7060-1FDF-4581-B525-CE6C2833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2DF71-3BDA-4963-93A4-1E611E8E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940B7-C026-4BD9-932E-9EFBD5C3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53E0B-41CC-4539-9DEE-411564AF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Link each fact to why it matters or what it proves.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810C58-C520-4CF8-9BE1-C3632920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1F15E-4B23-428A-B058-946BBE28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34F06-2180-46AC-BAFA-E035626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CC96B-9E53-442F-999E-78728D29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question; correct gaps and vague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03DE0D-05D8-45A0-8E69-3E5AEC86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Strong responses use evidence and reasoning—not a copied paragraph.</a:t>
            </a:r>
          </a:p>
        </p:txBody>
      </p:sp>
    </p:spTree>
    <p:extLst>
      <p:ext uri="{BB962C8B-B14F-4D97-AF65-F5344CB8AC3E}">
        <p14:creationId xmlns:p14="http://schemas.microsoft.com/office/powerpoint/2010/main" val="1582281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B443E-6CB6-4280-95CD-401EB6AE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50D13-1043-474D-AD54-856FCF54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EXIT TICKET +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F9B17-CABD-4CBD-BFEF-0132154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Finish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E3279-07AF-4420-A58D-B5B7E9C6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241BF-91AF-49E7-AB06-231CE3D2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188E3-CCE9-47A9-87AA-385F6088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1C686-12CA-4EB3-B128-04C9E6FD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9A702-D748-4691-BDF5-13EAC1D0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C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C777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0B99C-60A3-4C97-8144-291B719B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7CF49-6540-4BF8-95C4-AF084F6C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one idea you can now explain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CB992-0100-42D0-8852-19D2AB60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675F1-4626-47DE-8484-4B7CF356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one correction you made after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3DFD6-665A-42F5-B489-C2597073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11D26-0BCF-4C19-9502-08935E94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evidence you will save from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8CB2F-94F3-41AA-8B4A-360972C3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C0BAE-7741-4B48-B6E4-AF4FEDE2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SAVE THIS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366EE-1820-4811-9630-0A76D5C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Two-part magazine: a fashion-era report and a designer interview with images and APA references.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EBAB9F-87D1-4A96-B131-BF19B197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04B2D-63CF-4A21-9173-594BF39C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B4EBE-1A63-4E7E-9C58-47612A5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module page, complete the evidence prompt and use teacher directions for practical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BCA57-CDCE-4687-BF54-2E9F3D8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Explain it. Check it. Save it.</a:t>
            </a:r>
          </a:p>
        </p:txBody>
      </p:sp>
    </p:spTree>
    <p:extLst>
      <p:ext uri="{BB962C8B-B14F-4D97-AF65-F5344CB8AC3E}">
        <p14:creationId xmlns:p14="http://schemas.microsoft.com/office/powerpoint/2010/main" val="1837599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2026-08-18T02:10:00.3760000Z</dcterms:created>
  <dcterms:modified xsi:type="dcterms:W3CDTF">2026-08-18T02:10:00.3760000Z</dcterms:modified>
</coreProperties>
</file>