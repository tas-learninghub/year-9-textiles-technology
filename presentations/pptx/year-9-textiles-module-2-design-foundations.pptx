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b9ff5f2214af6" /><Relationship Type="http://schemas.openxmlformats.org/officeDocument/2006/relationships/extended-properties" Target="/docProps/app.xml" Id="Rd8b7340869f44065" /><Relationship Type="http://schemas.openxmlformats.org/officeDocument/2006/relationships/officeDocument" Target="/ppt/presentation.xml" Id="Rf4104319b5964c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5983b9dde34828"/>
  </p:sldMasterIdLst>
  <p:notesMasterIdLst>
    <p:notesMasterId xmlns:r="http://schemas.openxmlformats.org/officeDocument/2006/relationships" r:id="Rc4b3d1087f1a4363"/>
  </p:notesMasterIdLst>
  <p:sldIdLst>
    <p:sldId xmlns:r="http://schemas.openxmlformats.org/officeDocument/2006/relationships" id="256" r:id="R098981bbe53d4147"/>
    <p:sldId xmlns:r="http://schemas.openxmlformats.org/officeDocument/2006/relationships" id="257" r:id="R43f067e2eb7040fb"/>
    <p:sldId xmlns:r="http://schemas.openxmlformats.org/officeDocument/2006/relationships" id="258" r:id="R9af2026674494f62"/>
    <p:sldId xmlns:r="http://schemas.openxmlformats.org/officeDocument/2006/relationships" id="259" r:id="Rc228190ab0e84da5"/>
    <p:sldId xmlns:r="http://schemas.openxmlformats.org/officeDocument/2006/relationships" id="260" r:id="Rea33ee5580644fed"/>
    <p:sldId xmlns:r="http://schemas.openxmlformats.org/officeDocument/2006/relationships" id="261" r:id="Ra5ccd5682eaf4514"/>
    <p:sldId xmlns:r="http://schemas.openxmlformats.org/officeDocument/2006/relationships" id="262" r:id="R51f1fd9610104587"/>
    <p:sldId xmlns:r="http://schemas.openxmlformats.org/officeDocument/2006/relationships" id="263" r:id="Rf08d1a44c6714a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bc2d902b8a45d2" /><Relationship Type="http://schemas.openxmlformats.org/officeDocument/2006/relationships/slideMaster" Target="/ppt/slideMasters/slideMaster1.xml" Id="R645983b9dde34828" /><Relationship Type="http://schemas.openxmlformats.org/officeDocument/2006/relationships/notesMaster" Target="/ppt/notesMasters/notesMaster1.xml" Id="Rc4b3d1087f1a4363" /><Relationship Type="http://schemas.openxmlformats.org/officeDocument/2006/relationships/presProps" Target="/ppt/presProps.xml" Id="R3384ecfc04f744f6" /><Relationship Type="http://schemas.openxmlformats.org/officeDocument/2006/relationships/tableStyles" Target="/ppt/tableStyles.xml" Id="R53711096176a4289" /><Relationship Type="http://schemas.openxmlformats.org/officeDocument/2006/relationships/slide" Target="/ppt/slides/slide1.xml" Id="R098981bbe53d4147" /><Relationship Type="http://schemas.openxmlformats.org/officeDocument/2006/relationships/slide" Target="/ppt/slides/slide2.xml" Id="R43f067e2eb7040fb" /><Relationship Type="http://schemas.openxmlformats.org/officeDocument/2006/relationships/slide" Target="/ppt/slides/slide3.xml" Id="R9af2026674494f62" /><Relationship Type="http://schemas.openxmlformats.org/officeDocument/2006/relationships/slide" Target="/ppt/slides/slide4.xml" Id="Rc228190ab0e84da5" /><Relationship Type="http://schemas.openxmlformats.org/officeDocument/2006/relationships/slide" Target="/ppt/slides/slide5.xml" Id="Rea33ee5580644fed" /><Relationship Type="http://schemas.openxmlformats.org/officeDocument/2006/relationships/slide" Target="/ppt/slides/slide6.xml" Id="Ra5ccd5682eaf4514" /><Relationship Type="http://schemas.openxmlformats.org/officeDocument/2006/relationships/slide" Target="/ppt/slides/slide7.xml" Id="R51f1fd9610104587" /><Relationship Type="http://schemas.openxmlformats.org/officeDocument/2006/relationships/slide" Target="/ppt/slides/slide8.xml" Id="Rf08d1a44c6714a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350256a8c5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c4ff2711d24d0d" /><Relationship Type="http://schemas.openxmlformats.org/officeDocument/2006/relationships/notesMaster" Target="/ppt/notesMasters/notesMaster1.xml" Id="R949bae3057d040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c224c375374bdd" /><Relationship Type="http://schemas.openxmlformats.org/officeDocument/2006/relationships/notesMaster" Target="/ppt/notesMasters/notesMaster1.xml" Id="Rc650c370261044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55c4d1a9124c88" /><Relationship Type="http://schemas.openxmlformats.org/officeDocument/2006/relationships/notesMaster" Target="/ppt/notesMasters/notesMaster1.xml" Id="Ra5e3f72304de48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6e7c1f4d5a4a1e" /><Relationship Type="http://schemas.openxmlformats.org/officeDocument/2006/relationships/notesMaster" Target="/ppt/notesMasters/notesMaster1.xml" Id="Rb3d2468d0ab4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4209f8b31e4c43" /><Relationship Type="http://schemas.openxmlformats.org/officeDocument/2006/relationships/notesMaster" Target="/ppt/notesMasters/notesMaster1.xml" Id="Rd585d886f62d4c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c615ef19864a89" /><Relationship Type="http://schemas.openxmlformats.org/officeDocument/2006/relationships/notesMaster" Target="/ppt/notesMasters/notesMaster1.xml" Id="R3620312a1d2043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b47ac500fc4626" /><Relationship Type="http://schemas.openxmlformats.org/officeDocument/2006/relationships/notesMaster" Target="/ppt/notesMasters/notesMaster1.xml" Id="Rdca991b83fc742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2eb8e075764a71" /><Relationship Type="http://schemas.openxmlformats.org/officeDocument/2006/relationships/notesMaster" Target="/ppt/notesMasters/notesMaster1.xml" Id="Rf4614c546eaa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2, module summary and evidence sequence.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assets/visuals/textiles-course-hero.svg,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State the module purpose. Ask students which part of the topic feels familiar and which part is new.</a:t>
            </a:r>
          </a:p>
          <a:p xmlns:a="http://schemas.openxmlformats.org/drawingml/2006/main">
            <a:r>
              <a:t>Slide 1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2, all three section titles and first facts.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assets/visuals/respectful-magazine.svg,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Give students 30 seconds of silent retrieval, then connect their responses to the three-part learning map.</a:t>
            </a:r>
          </a:p>
          <a:p xmlns:a="http://schemas.openxmlformats.org/drawingml/2006/main">
            <a:r>
              <a:t>Slide 2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2, Section 1: Textiles as a design medium.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assets/visuals/fibre-yarn-fabric.svg,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3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2, Section 2: Elements of design.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assets/visuals/design-elements.svg,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4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2, Section 3: Sources of inspiration and mood boards.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5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2, retrieval questions generated from the first fact in each section.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Keep the first attempt closed-book. Accuracy improves when students check and visibly correct the response afterwards.</a:t>
            </a:r>
          </a:p>
          <a:p xmlns:a="http://schemas.openxmlformats.org/drawingml/2006/main">
            <a:r>
              <a:t>Slide 6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2, Section 3 evidence prompt plus the course response scaffold.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Model the four-step process aloud. Students should be able to point to the fact and the explanation in their finished response.</a:t>
            </a:r>
          </a:p>
          <a:p xmlns:a="http://schemas.openxmlformats.org/drawingml/2006/main">
            <a:r>
              <a:t>Slide 7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2, module evidence summary and student next step.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Collect a brief spoken or written exit response. Remind students that the website and teacher directions control the practical next step.</a:t>
            </a:r>
          </a:p>
          <a:p xmlns:a="http://schemas.openxmlformats.org/drawingml/2006/main">
            <a:r>
              <a:t>Slide 8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419c09492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8fd7f639a94727" /><Relationship Type="http://schemas.openxmlformats.org/officeDocument/2006/relationships/slideLayout" Target="/ppt/slideLayouts/slideLayout1.xml" Id="R1f4bd1bf6eeb45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4bd1bf6eeb45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ca187f1ae4c1b" /><Relationship Type="http://schemas.openxmlformats.org/officeDocument/2006/relationships/image" Target="/ppt/media/image.png" Id="R7f74664886ff474e" /><Relationship Type="http://schemas.openxmlformats.org/officeDocument/2006/relationships/notesSlide" Target="/ppt/notesSlides/notesSlide1.xml" Id="Rabd93da20af047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e18fb7b57490e" /><Relationship Type="http://schemas.openxmlformats.org/officeDocument/2006/relationships/image" Target="/ppt/media/image2.png" Id="Rdbf5004bae6946ed" /><Relationship Type="http://schemas.openxmlformats.org/officeDocument/2006/relationships/notesSlide" Target="/ppt/notesSlides/notesSlide2.xml" Id="R3d07b4306c2740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d03282767476f" /><Relationship Type="http://schemas.openxmlformats.org/officeDocument/2006/relationships/image" Target="/ppt/media/image3.png" Id="Re2f008009167443c" /><Relationship Type="http://schemas.openxmlformats.org/officeDocument/2006/relationships/notesSlide" Target="/ppt/notesSlides/notesSlide3.xml" Id="R59a73fdafabd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37ff19caa404c" /><Relationship Type="http://schemas.openxmlformats.org/officeDocument/2006/relationships/image" Target="/ppt/media/image4.png" Id="R33aadee6c7b8430c" /><Relationship Type="http://schemas.openxmlformats.org/officeDocument/2006/relationships/notesSlide" Target="/ppt/notesSlides/notesSlide4.xml" Id="Ref957c00b27c45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67562b8ec4087" /><Relationship Type="http://schemas.openxmlformats.org/officeDocument/2006/relationships/notesSlide" Target="/ppt/notesSlides/notesSlide5.xml" Id="R714c168a431a4b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375d304fd4ae7" /><Relationship Type="http://schemas.openxmlformats.org/officeDocument/2006/relationships/notesSlide" Target="/ppt/notesSlides/notesSlide6.xml" Id="R54add5b76a0a47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a04823cb74e3c" /><Relationship Type="http://schemas.openxmlformats.org/officeDocument/2006/relationships/notesSlide" Target="/ppt/notesSlides/notesSlide7.xml" Id="R6c4f173dba8143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a7f62b8fb419c" /><Relationship Type="http://schemas.openxmlformats.org/officeDocument/2006/relationships/notesSlide" Target="/ppt/notesSlides/notesSlide8.xml" Id="Rb14c0608929a48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35DEF-7494-493B-B29F-3ED16837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4E67B-F35A-4613-A85B-13FD4D5A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4BD57-6B72-42A8-8DC8-3B1933C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89FA2-ABE2-4E4B-B7FE-137B6B1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33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YEAR 9 TEXTILES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E19EF-2969-46EB-9B13-81CABB12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9053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Design 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28538-1A37-4D92-9EC5-AF1A7385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Understand textiles as a design medium, use the elements of design and turn inspiration into a purposeful mood 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6621A-7022-4825-8EED-C75F5D3C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D215C-8319-4A4F-B66B-3EB9168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TODAY: understand → retrieve → explain → save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A95D8-8552-42EF-B4FF-4B1278B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19150"/>
            <a:ext cx="5353050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4664886ff474e"/>
          <a:stretch xmlns:a="http://schemas.openxmlformats.org/drawingml/2006/main"/>
        </p:blipFill>
        <p:spPr>
          <a:xfrm xmlns:a="http://schemas.openxmlformats.org/drawingml/2006/main">
            <a:off x="6381750" y="1382183"/>
            <a:ext cx="4895850" cy="3807883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DBFCD-1606-4747-A5A7-AA11E322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4486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59933-D574-4579-AE24-B4BE047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45F3E-BBFC-4A1C-8A2A-588AECF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LEARNING MAP + RETRIEVAL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7B514-7196-469B-962C-C3C50175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Three ideas to connect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827DE-8BBD-4249-A058-F39F31CC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7CDC1-CC56-49B0-97D7-86E739C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7FEA-5994-4715-9AFD-DF28DB59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3AC59-D4DB-4B9A-A7BF-600EA606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55DA3-872F-439B-8BEA-EFBEB4B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E361C-A98B-41AA-9EAE-A2EA359A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Textiles as a design medium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7672C-67D1-48E0-A127-31AC558C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2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five focus areas are apparel, furnishings, costume, textile art and non-apparel.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D8646-6597-4432-87D0-A345844A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17887-21B2-4160-86D3-EBB18115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FD0C8-1EE0-4C0C-A4C9-A8C0DA69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Elements of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7757A-2F8B-47E8-84F0-6F4F199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Line, direction, shape, size, colour, value and texture are design elements.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05AB0-3982-44F2-BC62-7293658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AD39B-9DA9-4D7D-B50E-2172A04F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831F8-1575-43BF-B09A-D37E1B9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Sources of inspiration and mood boards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F0023-7D8B-4600-A6AF-388D1489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45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History, culture, nature, manufactured items, events and emotions can inspire design.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19CD7-135C-4B94-9880-88DB4D9F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257550" cy="3276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5004bae6946ed"/>
          <a:stretch xmlns:a="http://schemas.openxmlformats.org/drawingml/2006/main"/>
        </p:blipFill>
        <p:spPr>
          <a:xfrm xmlns:a="http://schemas.openxmlformats.org/drawingml/2006/main">
            <a:off x="8496300" y="2077244"/>
            <a:ext cx="2762250" cy="1427163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A0180-DB92-4ACA-972E-83BF6C6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RETRIEVE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D1159-B1F4-4E60-9BBA-7BAADC67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Without notes: say one fact you already know and one question you need answered.</a:t>
            </a:r>
          </a:p>
        </p:txBody>
      </p:sp>
    </p:spTree>
    <p:extLst>
      <p:ext uri="{BB962C8B-B14F-4D97-AF65-F5344CB8AC3E}">
        <p14:creationId xmlns:p14="http://schemas.microsoft.com/office/powerpoint/2010/main" val="1392619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85E09-A8B0-4877-8C7A-C334A8B7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D3DE5-EE0E-4017-A913-2F95A8F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DF01B-AAC1-4DD8-8BB1-F9F57C93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Textiles as a design medium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8A053-E47B-4C60-B356-39AECD4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BFFF0-4E44-4193-8A96-D14AF690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D542E-7D4D-4E99-95BA-4541EA1A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4C6DB-9D71-4DAA-B0AC-B0DAA83F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2E253-182B-4900-9AAC-6A168AC4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4DE06-DEAA-4599-8531-FA4B54FE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five focus areas are apparel, furnishings, costume, textile art and non-apparel.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They organise the different end uses of textile design.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Textile fibres, yarns and fabrics can be used as a design medium.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Their flexible structures can be selected and manipulated for many products.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Purpose and user needs guide material and process choices.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successful item must perform for its intended end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A0730-134F-4770-B435-3F5608FA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008009167443c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8167C-D6C5-4815-A55C-B27C8C09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BD24D-0A9D-4313-B71D-D5890DC4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953D0-61A1-4AC6-A72D-347C8CF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87974-7505-4671-9EB9-157ADA90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one focus area and explain how user, purpose, material and equipment would influence a textile design.</a:t>
            </a:r>
          </a:p>
        </p:txBody>
      </p:sp>
    </p:spTree>
    <p:extLst>
      <p:ext uri="{BB962C8B-B14F-4D97-AF65-F5344CB8AC3E}">
        <p14:creationId xmlns:p14="http://schemas.microsoft.com/office/powerpoint/2010/main" val="25636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F1D98-6048-4556-86DD-032F5569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C0F31-504F-4037-87FF-F86037A2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359CF-5645-484F-B1B7-6E8940AF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Elements of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0D6E9-A4BF-49D4-82FE-7A2EB285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7179C-0A4F-4EE0-B309-1E26E04E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BFBB4-5F93-4325-B9A2-78E95763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0BDBF-8FDF-41C3-8870-F97E337C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A6A00-C2AF-477E-B011-4F1FFE17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B039D-2E96-4B6F-B14D-21EAED53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Line, direction, shape, size, colour, value and texture are design elements.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They are visual tools used to communicate and develop ideas.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Elements can be isolated or combined.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Designers control emphasis and visual effect through their relationships.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Texture describes a surface's visual or tactile quality.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affects how an item looks and can affect how it feels.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28753-643F-452C-8637-10C779DA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adee6c7b8430c"/>
          <a:stretch xmlns:a="http://schemas.openxmlformats.org/drawingml/2006/main"/>
        </p:blipFill>
        <p:spPr>
          <a:xfrm xmlns:a="http://schemas.openxmlformats.org/drawingml/2006/main">
            <a:off x="91440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7D5F0-27C5-4865-ACAC-2785DAEA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50B0A-B2E3-49EE-98FE-B4F83BC8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37650-5594-4102-AAC3-44EC41FF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E3685-AC6A-4261-B5C8-5193FF70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Explain how you would use three design elements to communicate a chosen mood for nightwear.</a:t>
            </a:r>
          </a:p>
        </p:txBody>
      </p:sp>
    </p:spTree>
    <p:extLst>
      <p:ext uri="{BB962C8B-B14F-4D97-AF65-F5344CB8AC3E}">
        <p14:creationId xmlns:p14="http://schemas.microsoft.com/office/powerpoint/2010/main" val="1358993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B2CDC-0CD5-4C2C-99A0-39A18232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B8FE9-01A3-46A5-8B23-43621526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E91B7-9F24-40F9-8C4D-4C300021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Sources of inspiration and mood 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73119-5A0B-4EBF-B742-EE21FD80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83FEB-E147-459A-B510-9FB280F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038AF-E5C2-4619-AB7B-F712E999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E06E9-8395-434F-BE42-6034FEAB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6A4B0-CCB2-4F19-B47A-490EF01C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7471E-CD75-412D-B104-83A9BC94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54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History, culture, nature, manufactured items, events and emotions can inspire design.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broad source range helps designers generate varied directions.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Inspiration is transformed rather than copied.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Original design develops selected features for a new purpose.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mood board communicates a coherent direction.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Related images, colours and textures make the intended mood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2C379-920B-44ED-8F70-4D2B0552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4C894-9C43-4132-98B3-C14A822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95756-39F9-4F96-932D-86D08EC8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9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DEAC1-ABC0-4077-9CD5-6AC7B244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History, culture, nature, manufactured items, events and emotions can inspire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5DF03-A17A-4BD8-8D2B-F0B0846E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EFA8D-DD56-4C1F-B1E3-481B8067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05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5F949-FC68-4657-ACCD-D4B6CC0C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Inspiration is transformed rather than copied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6304C-A0A3-4727-B6DC-AE439810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D55BE-5E2D-422D-8BF1-C518553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00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7ED87-8286-4F61-9A0D-E9EBA346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A mood board communicates a coherent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786CC-0DB1-450E-AAF8-F77420FB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36766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4F124-B0BA-4F50-8AEA-10693996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720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THE IDEA — DO NOT JUST LIST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8EE95-B962-4951-BEFD-CFB31897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3BF80-DAF8-483C-A055-E5BBE212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D6824-FB8F-4333-B355-2AC7EB9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Describe a mood-board direction for Designer Pyjamas and explain how the sources would lead to original design ideas.</a:t>
            </a:r>
          </a:p>
        </p:txBody>
      </p:sp>
    </p:spTree>
    <p:extLst>
      <p:ext uri="{BB962C8B-B14F-4D97-AF65-F5344CB8AC3E}">
        <p14:creationId xmlns:p14="http://schemas.microsoft.com/office/powerpoint/2010/main" val="1535586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5A0C4-CD0A-4DF2-BFD4-FCC6CCD3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EE23E-5F77-43C1-91DB-277660E5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NO NOTES FOR THE FIRST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723A8-FFB6-4423-8787-F114C581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Retrieve before you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7469C-5965-446D-9A76-76F6C05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25797-F68F-486F-8FD6-4DF5DB88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CF6D4-D4BE-4147-B919-D2EB09BC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B689F-C66D-4ED0-A783-FEB9C029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3727F-3D0B-4380-88AA-5A1C19DF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A9296-5CCD-44F6-B89C-F9210B5D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Textiles as a design medium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10857-033A-43ED-AD71-6212EBA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Define textiles as a design medium in your own words and give one course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D4AB0-8528-4C2E-96A4-0C7860C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58CDB-E62C-42B7-80AD-1A379F08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70D01-E09F-4630-8745-FAD6ACF1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Elements of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4391A-F399-484D-BD0B-570782B4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Why does elements of design matter to a successful textile outcome?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33101-2E5D-4549-8C64-95E2A9BF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F6371-C20F-4BB1-A628-D4DB40B5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56661-E782-4E5B-A76C-64A4465D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Sources of inspiration and mood boards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61BCE-098E-489D-B7C8-167F84AA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What evidence would prove you understand sources of inspiration and mood boards?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817E7-FC3A-439E-90FB-17689D19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Attempt → check the module → correct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968014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FD527-58C7-4DC9-A585-F69D707C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21A2E-EF27-4536-929F-832DE13B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READ → SELECT → EXPLAIN →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A5B92-0878-4CA9-AE11-F58B8CE1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Build one strong written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90DA6-A519-4392-96B5-2281AF62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802BB-8956-43F7-B5B6-8DB2F671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A246E-25BA-4DF4-9A0A-CDCFB54F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5C715-D869-48F2-997C-90A90B11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A02C1-5EDE-4C3C-B2CE-2CB9620E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FC6A0-86AD-49CA-B708-29D2E725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Describe a mood-board direction for Designer Pyjamas and explain how the sources would lead to original design ideas.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71AD0-06AC-499A-9344-1B4A4591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2A905-4FA3-41E8-A830-93E54013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1B218-C0FF-47E1-9C13-7F6D911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7F4DD-DB2A-4091-989D-FFBAC3A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Underline the action word and the exact topic.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7E7F8-3283-4097-9A59-E42F2B94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527A7-D7A0-43E6-B476-9CD83E26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87632-7699-43B8-A646-892647B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514C2-0267-4BA2-84A3-B1A7E0FA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two or three course facts that answer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50016-3CD5-4BCC-9401-66452C35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3259E-B6A1-4775-8EE2-5F61828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B6D3E-8CDD-4895-96F1-F6570453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59467-34B5-4F93-8387-A496E6E3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Link each fact to why it matters or what it proves.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03816-6AF6-4683-A32F-73232AF9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AF3BC-6698-46C3-B8D5-38BCBB66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8E076-80A8-4D6B-A0B9-FEBFE620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ECB47-A8DB-4910-80E7-BA701970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question; correct gaps and vague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4539E-4E01-4B0E-8B01-12AA1641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Strong responses use evidence and reasoning—not a copied paragraph.</a:t>
            </a:r>
          </a:p>
        </p:txBody>
      </p:sp>
    </p:spTree>
    <p:extLst>
      <p:ext uri="{BB962C8B-B14F-4D97-AF65-F5344CB8AC3E}">
        <p14:creationId xmlns:p14="http://schemas.microsoft.com/office/powerpoint/2010/main" val="1442925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765DD-FF6C-41A3-BF98-BD858EB4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026A6-8258-4E55-90D7-CBFAA001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EXIT TICKET +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6FC1F-8F65-49C9-9D22-62630D5C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Finish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CC804-1056-47A8-9663-B5E6720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E52D6-25C7-41B4-AF48-2BF7148D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F502C-9E14-4D48-AB6E-D8E77655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A4530-9CB0-4DD4-96A4-598C6C73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20068-B48B-4564-9CC2-78C6C7DF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C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C777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5699B-FC69-48FD-A656-A4AD1C37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BED14-E5D3-4AA0-9ECD-0D0D6398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one idea you can now explain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6265-EFC5-4515-9437-7BAEA635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2DB45-2048-43C5-9925-FF25CB9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one correction you made after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4D7F-65F6-409F-A894-72F9D8F1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BED21-BDB7-4EA1-B527-3F3D73B4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evidence you will save from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49F6C-BFB1-4C92-AE20-E0DD181C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06CC6-92F5-4734-B1F0-501B0532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SAVE THIS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9B6FC-F3FD-4358-B00C-83AFD792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Mood board, two initial concepts and an annotated design decision.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6A50B-FD5E-4EA1-BD90-D2B75139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B40A5-E827-4446-B58D-F7A6D1FD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761A3-172A-48F1-BC5D-FB648042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module page, complete the evidence prompt and use teacher directions for practical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6CB90-E06A-4682-B3D3-BF9BEA35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Explain it. Check it. Save it.</a:t>
            </a:r>
          </a:p>
        </p:txBody>
      </p:sp>
    </p:spTree>
    <p:extLst>
      <p:ext uri="{BB962C8B-B14F-4D97-AF65-F5344CB8AC3E}">
        <p14:creationId xmlns:p14="http://schemas.microsoft.com/office/powerpoint/2010/main" val="1693951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2026-08-18T02:09:46.5050000Z</dcterms:created>
  <dcterms:modified xsi:type="dcterms:W3CDTF">2026-08-18T02:09:46.5050000Z</dcterms:modified>
</coreProperties>
</file>