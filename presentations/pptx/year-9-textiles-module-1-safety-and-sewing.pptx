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8e4af6dca649f0" /><Relationship Type="http://schemas.openxmlformats.org/officeDocument/2006/relationships/extended-properties" Target="/docProps/app.xml" Id="Rb05c7e8874e24219" /><Relationship Type="http://schemas.openxmlformats.org/officeDocument/2006/relationships/officeDocument" Target="/ppt/presentation.xml" Id="Rddbc7527a1394d7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ac6f30dc8224e57"/>
  </p:sldMasterIdLst>
  <p:notesMasterIdLst>
    <p:notesMasterId xmlns:r="http://schemas.openxmlformats.org/officeDocument/2006/relationships" r:id="R83ac96bca149488e"/>
  </p:notesMasterIdLst>
  <p:sldIdLst>
    <p:sldId xmlns:r="http://schemas.openxmlformats.org/officeDocument/2006/relationships" id="256" r:id="R19e4f484c1ad4889"/>
    <p:sldId xmlns:r="http://schemas.openxmlformats.org/officeDocument/2006/relationships" id="257" r:id="R84169199070d4d4b"/>
    <p:sldId xmlns:r="http://schemas.openxmlformats.org/officeDocument/2006/relationships" id="258" r:id="R783d2415314c4c23"/>
    <p:sldId xmlns:r="http://schemas.openxmlformats.org/officeDocument/2006/relationships" id="259" r:id="R7c303b0b2214484e"/>
    <p:sldId xmlns:r="http://schemas.openxmlformats.org/officeDocument/2006/relationships" id="260" r:id="Rc311cb2ddbd04eb7"/>
    <p:sldId xmlns:r="http://schemas.openxmlformats.org/officeDocument/2006/relationships" id="261" r:id="R0c89815c03244989"/>
    <p:sldId xmlns:r="http://schemas.openxmlformats.org/officeDocument/2006/relationships" id="262" r:id="R286631c705ec449f"/>
    <p:sldId xmlns:r="http://schemas.openxmlformats.org/officeDocument/2006/relationships" id="263" r:id="R2c126b00cf974b8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bb96b5e6fc4b51" /><Relationship Type="http://schemas.openxmlformats.org/officeDocument/2006/relationships/slideMaster" Target="/ppt/slideMasters/slideMaster1.xml" Id="R0ac6f30dc8224e57" /><Relationship Type="http://schemas.openxmlformats.org/officeDocument/2006/relationships/notesMaster" Target="/ppt/notesMasters/notesMaster1.xml" Id="R83ac96bca149488e" /><Relationship Type="http://schemas.openxmlformats.org/officeDocument/2006/relationships/presProps" Target="/ppt/presProps.xml" Id="R84abd211ac3e488f" /><Relationship Type="http://schemas.openxmlformats.org/officeDocument/2006/relationships/tableStyles" Target="/ppt/tableStyles.xml" Id="Ref3c303be89341ce" /><Relationship Type="http://schemas.openxmlformats.org/officeDocument/2006/relationships/slide" Target="/ppt/slides/slide1.xml" Id="R19e4f484c1ad4889" /><Relationship Type="http://schemas.openxmlformats.org/officeDocument/2006/relationships/slide" Target="/ppt/slides/slide2.xml" Id="R84169199070d4d4b" /><Relationship Type="http://schemas.openxmlformats.org/officeDocument/2006/relationships/slide" Target="/ppt/slides/slide3.xml" Id="R783d2415314c4c23" /><Relationship Type="http://schemas.openxmlformats.org/officeDocument/2006/relationships/slide" Target="/ppt/slides/slide4.xml" Id="R7c303b0b2214484e" /><Relationship Type="http://schemas.openxmlformats.org/officeDocument/2006/relationships/slide" Target="/ppt/slides/slide5.xml" Id="Rc311cb2ddbd04eb7" /><Relationship Type="http://schemas.openxmlformats.org/officeDocument/2006/relationships/slide" Target="/ppt/slides/slide6.xml" Id="R0c89815c03244989" /><Relationship Type="http://schemas.openxmlformats.org/officeDocument/2006/relationships/slide" Target="/ppt/slides/slide7.xml" Id="R286631c705ec449f" /><Relationship Type="http://schemas.openxmlformats.org/officeDocument/2006/relationships/slide" Target="/ppt/slides/slide8.xml" Id="R2c126b00cf974b8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14ce4dbf13f4b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e99a71edf545ec" /><Relationship Type="http://schemas.openxmlformats.org/officeDocument/2006/relationships/notesMaster" Target="/ppt/notesMasters/notesMaster1.xml" Id="R83de1d9097b441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47ed76403c745aa" /><Relationship Type="http://schemas.openxmlformats.org/officeDocument/2006/relationships/notesMaster" Target="/ppt/notesMasters/notesMaster1.xml" Id="Re312d740b1aa48c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5ee48a8d1a8457c" /><Relationship Type="http://schemas.openxmlformats.org/officeDocument/2006/relationships/notesMaster" Target="/ppt/notesMasters/notesMaster1.xml" Id="Ra940d782374645c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c52496af5094c04" /><Relationship Type="http://schemas.openxmlformats.org/officeDocument/2006/relationships/notesMaster" Target="/ppt/notesMasters/notesMaster1.xml" Id="R1c5a8311ac93445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4bbe867dbc947ff" /><Relationship Type="http://schemas.openxmlformats.org/officeDocument/2006/relationships/notesMaster" Target="/ppt/notesMasters/notesMaster1.xml" Id="Rb78883ad7e174d2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0a1de15bd014a52" /><Relationship Type="http://schemas.openxmlformats.org/officeDocument/2006/relationships/notesMaster" Target="/ppt/notesMasters/notesMaster1.xml" Id="Ra75421ef2c864e5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b95543490b34d05" /><Relationship Type="http://schemas.openxmlformats.org/officeDocument/2006/relationships/notesMaster" Target="/ppt/notesMasters/notesMaster1.xml" Id="Rcb318bdd0ce545a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b710994567b46e6" /><Relationship Type="http://schemas.openxmlformats.org/officeDocument/2006/relationships/notesMaster" Target="/ppt/notesMasters/notesMaster1.xml" Id="R55c59d92dca94b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Website course data: assets/course-data.js, Module 1, module summary and evidence sequence.</a:t>
            </a:r>
          </a:p>
          <a:p xmlns:a="http://schemas.openxmlformats.org/drawingml/2006/main">
            <a:r>
              <a:t>Course authority: work/source-contract.md and work/source-audit.md.</a:t>
            </a:r>
          </a:p>
          <a:p xmlns:a="http://schemas.openxmlformats.org/drawingml/2006/main">
            <a:r>
              <a:t>Local visual: assets/visuals/textiles-course-hero.svg, source-bound course artwork rasterised for PowerPoint.</a:t>
            </a:r>
          </a:p>
          <a:p xmlns:a="http://schemas.openxmlformats.org/drawingml/2006/main">
            <a:r>
              <a:t>Source boundary: exact practical settings, construction directions and current assessment arrangements remain teacher-controlled.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note: State the module purpose. Ask students which part of the topic feels familiar and which part is new.</a:t>
            </a:r>
          </a:p>
          <a:p xmlns:a="http://schemas.openxmlformats.org/drawingml/2006/main">
            <a:r>
              <a:t>Slide 1 of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Website course data: assets/course-data.js, Module 1, all three section titles and first facts.</a:t>
            </a:r>
          </a:p>
          <a:p xmlns:a="http://schemas.openxmlformats.org/drawingml/2006/main">
            <a:r>
              <a:t>Course authority: work/source-contract.md and work/source-audit.md.</a:t>
            </a:r>
          </a:p>
          <a:p xmlns:a="http://schemas.openxmlformats.org/drawingml/2006/main">
            <a:r>
              <a:t>Local visual: assets/visuals/pattern-symbols.svg, source-bound course artwork rasterised for PowerPoint.</a:t>
            </a:r>
          </a:p>
          <a:p xmlns:a="http://schemas.openxmlformats.org/drawingml/2006/main">
            <a:r>
              <a:t>Source boundary: exact practical settings, construction directions and current assessment arrangements remain teacher-controlled.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note: Give students 30 seconds of silent retrieval, then connect their responses to the three-part learning map.</a:t>
            </a:r>
          </a:p>
          <a:p xmlns:a="http://schemas.openxmlformats.org/drawingml/2006/main">
            <a:r>
              <a:t>Slide 2 of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Website course data: assets/course-data.js, Module 1, Section 1: Working safely in the textiles room.</a:t>
            </a:r>
          </a:p>
          <a:p xmlns:a="http://schemas.openxmlformats.org/drawingml/2006/main">
            <a:r>
              <a:t>Course authority: work/source-contract.md and work/source-audit.md.</a:t>
            </a:r>
          </a:p>
          <a:p xmlns:a="http://schemas.openxmlformats.org/drawingml/2006/main">
            <a:r>
              <a:t>Local visual: assets/visuals/safety-studio.svg, source-bound course artwork rasterised for PowerPoint.</a:t>
            </a:r>
          </a:p>
          <a:p xmlns:a="http://schemas.openxmlformats.org/drawingml/2006/main">
            <a:r>
              <a:t>Source boundary: exact practical settings, construction directions and current assessment arrangements remain teacher-controlled.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note: Teach the three points, then pause for students to answer the evidence prompt in one or two precise sentences.</a:t>
            </a:r>
          </a:p>
          <a:p xmlns:a="http://schemas.openxmlformats.org/drawingml/2006/main">
            <a:r>
              <a:t>Slide 3 of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Website course data: assets/course-data.js, Module 1, Section 2: Sewing-machine setup and control.</a:t>
            </a:r>
          </a:p>
          <a:p xmlns:a="http://schemas.openxmlformats.org/drawingml/2006/main">
            <a:r>
              <a:t>Course authority: work/source-contract.md and work/source-audit.md.</a:t>
            </a:r>
          </a:p>
          <a:p xmlns:a="http://schemas.openxmlformats.org/drawingml/2006/main">
            <a:r>
              <a:t>Visual treatment: editable PowerPoint diagram generated only from the cited module facts.</a:t>
            </a:r>
          </a:p>
          <a:p xmlns:a="http://schemas.openxmlformats.org/drawingml/2006/main">
            <a:r>
              <a:t>Source boundary: exact practical settings, construction directions and current assessment arrangements remain teacher-controlled.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note: Teach the three points, then pause for students to answer the evidence prompt in one or two precise sentences.</a:t>
            </a:r>
          </a:p>
          <a:p xmlns:a="http://schemas.openxmlformats.org/drawingml/2006/main">
            <a:r>
              <a:t>Slide 4 of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Website course data: assets/course-data.js, Module 1, Section 3: Pincushion practice and reflection.</a:t>
            </a:r>
          </a:p>
          <a:p xmlns:a="http://schemas.openxmlformats.org/drawingml/2006/main">
            <a:r>
              <a:t>Course authority: work/source-contract.md and work/source-audit.md.</a:t>
            </a:r>
          </a:p>
          <a:p xmlns:a="http://schemas.openxmlformats.org/drawingml/2006/main">
            <a:r>
              <a:t>Local visual: assets/visuals/evaluation-cycle.svg, source-bound course artwork rasterised for PowerPoint.</a:t>
            </a:r>
          </a:p>
          <a:p xmlns:a="http://schemas.openxmlformats.org/drawingml/2006/main">
            <a:r>
              <a:t>Source boundary: exact practical settings, construction directions and current assessment arrangements remain teacher-controlled.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note: Teach the three points, then pause for students to answer the evidence prompt in one or two precise sentences.</a:t>
            </a:r>
          </a:p>
          <a:p xmlns:a="http://schemas.openxmlformats.org/drawingml/2006/main">
            <a:r>
              <a:t>Slide 5 of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Website course data: assets/course-data.js, Module 1, retrieval questions generated from the first fact in each section.</a:t>
            </a:r>
          </a:p>
          <a:p xmlns:a="http://schemas.openxmlformats.org/drawingml/2006/main">
            <a:r>
              <a:t>Course authority: work/source-contract.md and work/source-audit.md.</a:t>
            </a:r>
          </a:p>
          <a:p xmlns:a="http://schemas.openxmlformats.org/drawingml/2006/main">
            <a:r>
              <a:t>Visual treatment: editable PowerPoint diagram generated only from the cited module facts.</a:t>
            </a:r>
          </a:p>
          <a:p xmlns:a="http://schemas.openxmlformats.org/drawingml/2006/main">
            <a:r>
              <a:t>Source boundary: exact practical settings, construction directions and current assessment arrangements remain teacher-controlled.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note: Keep the first attempt closed-book. Accuracy improves when students check and visibly correct the response afterwards.</a:t>
            </a:r>
          </a:p>
          <a:p xmlns:a="http://schemas.openxmlformats.org/drawingml/2006/main">
            <a:r>
              <a:t>Slide 6 of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Website course data: assets/course-data.js, Module 1, Section 3 evidence prompt plus the course response scaffold.</a:t>
            </a:r>
          </a:p>
          <a:p xmlns:a="http://schemas.openxmlformats.org/drawingml/2006/main">
            <a:r>
              <a:t>Course authority: work/source-contract.md and work/source-audit.md.</a:t>
            </a:r>
          </a:p>
          <a:p xmlns:a="http://schemas.openxmlformats.org/drawingml/2006/main">
            <a:r>
              <a:t>Visual treatment: editable PowerPoint diagram generated only from the cited module facts.</a:t>
            </a:r>
          </a:p>
          <a:p xmlns:a="http://schemas.openxmlformats.org/drawingml/2006/main">
            <a:r>
              <a:t>Source boundary: exact practical settings, construction directions and current assessment arrangements remain teacher-controlled.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note: Model the four-step process aloud. Students should be able to point to the fact and the explanation in their finished response.</a:t>
            </a:r>
          </a:p>
          <a:p xmlns:a="http://schemas.openxmlformats.org/drawingml/2006/main">
            <a:r>
              <a:t>Slide 7 of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Website course data: assets/course-data.js, Module 1, module evidence summary and student next step.</a:t>
            </a:r>
          </a:p>
          <a:p xmlns:a="http://schemas.openxmlformats.org/drawingml/2006/main">
            <a:r>
              <a:t>Course authority: work/source-contract.md and work/source-audit.md.</a:t>
            </a:r>
          </a:p>
          <a:p xmlns:a="http://schemas.openxmlformats.org/drawingml/2006/main">
            <a:r>
              <a:t>Visual treatment: editable PowerPoint diagram generated only from the cited module facts.</a:t>
            </a:r>
          </a:p>
          <a:p xmlns:a="http://schemas.openxmlformats.org/drawingml/2006/main">
            <a:r>
              <a:t>Source boundary: exact practical settings, construction directions and current assessment arrangements remain teacher-controlled.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note: Collect a brief spoken or written exit response. Remind students that the website and teacher directions control the practical next step.</a:t>
            </a:r>
          </a:p>
          <a:p xmlns:a="http://schemas.openxmlformats.org/drawingml/2006/main">
            <a:r>
              <a:t>Slide 8 of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776572d52d489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b75865c179405f" /><Relationship Type="http://schemas.openxmlformats.org/officeDocument/2006/relationships/slideLayout" Target="/ppt/slideLayouts/slideLayout1.xml" Id="Rda9d6b0ca384412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9d6b0ca384412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4af83006424682" /><Relationship Type="http://schemas.openxmlformats.org/officeDocument/2006/relationships/image" Target="/ppt/media/image.png" Id="Rf599faa79193408e" /><Relationship Type="http://schemas.openxmlformats.org/officeDocument/2006/relationships/notesSlide" Target="/ppt/notesSlides/notesSlide1.xml" Id="R697b46f35aee466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2901478d124955" /><Relationship Type="http://schemas.openxmlformats.org/officeDocument/2006/relationships/image" Target="/ppt/media/image2.png" Id="R16d51fe5d62441fc" /><Relationship Type="http://schemas.openxmlformats.org/officeDocument/2006/relationships/notesSlide" Target="/ppt/notesSlides/notesSlide2.xml" Id="R1537b09201d642f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c38a0f695447d1" /><Relationship Type="http://schemas.openxmlformats.org/officeDocument/2006/relationships/image" Target="/ppt/media/image3.png" Id="R53e2e7cebcb746a0" /><Relationship Type="http://schemas.openxmlformats.org/officeDocument/2006/relationships/notesSlide" Target="/ppt/notesSlides/notesSlide3.xml" Id="R1aa29e57079f47e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f46eb3c64f4ec1" /><Relationship Type="http://schemas.openxmlformats.org/officeDocument/2006/relationships/notesSlide" Target="/ppt/notesSlides/notesSlide4.xml" Id="R19b44d667c4d45e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92fd3558c14f15" /><Relationship Type="http://schemas.openxmlformats.org/officeDocument/2006/relationships/image" Target="/ppt/media/image4.png" Id="Rea664daa38ec423e" /><Relationship Type="http://schemas.openxmlformats.org/officeDocument/2006/relationships/notesSlide" Target="/ppt/notesSlides/notesSlide5.xml" Id="R7772cb6644074b3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628360c0bf46c1" /><Relationship Type="http://schemas.openxmlformats.org/officeDocument/2006/relationships/notesSlide" Target="/ppt/notesSlides/notesSlide6.xml" Id="R7c76145190f14d9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a9caad5f344e1b" /><Relationship Type="http://schemas.openxmlformats.org/officeDocument/2006/relationships/notesSlide" Target="/ppt/notesSlides/notesSlide7.xml" Id="R16bbdf6f09af44e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3823969ea641fb" /><Relationship Type="http://schemas.openxmlformats.org/officeDocument/2006/relationships/notesSlide" Target="/ppt/notesSlides/notesSlide8.xml" Id="Rc3f83ae55d0a4e9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723B93-5871-4832-B70A-3CEF48A1A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185355-30D3-49E2-ACDD-A2E1CE2E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C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7267D1-AFA8-4244-87C6-E413537D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AD9F78-9DB1-4D52-9BEE-D862F20F9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73342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YEAR 9 TEXTILES TECHNOLOGY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F4F34A-F5C7-4DBD-B50F-0E1363DE0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4905375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0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defRPr>
            </a:pPr>
            <a:r>
              <a:rPr sz="50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rPr>
              <a:t>Safety &amp; sewing confidence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A0BCB0-3EA1-4377-A661-BD3BEFE7C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187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Learn the room routine, use equipment safely and begin controlling a sewing machine through paper sewing and threading practice.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82D1F5-0433-40B8-9652-C392AE83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14950"/>
            <a:ext cx="4762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DCE9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8DAA29-B93F-418E-B8BB-0C9C303D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448300"/>
            <a:ext cx="430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213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1655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416554"/>
                </a:solidFill>
                <a:latin typeface="Aptos"/>
                <a:ea typeface="Aptos"/>
                <a:cs typeface="Aptos"/>
              </a:rPr>
              <a:t>TODAY: understand → retrieve → explain → save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6D98D3-4A32-47AD-9725-18E4A297E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819150"/>
            <a:ext cx="5353050" cy="4933950"/>
          </a:xfrm>
          <a:prstGeom xmlns:a="http://schemas.openxmlformats.org/drawingml/2006/main" prst="roundRect">
            <a:avLst>
              <a:gd name="adj" fmla="val 30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99faa79193408e"/>
          <a:stretch xmlns:a="http://schemas.openxmlformats.org/drawingml/2006/main"/>
        </p:blipFill>
        <p:spPr>
          <a:xfrm xmlns:a="http://schemas.openxmlformats.org/drawingml/2006/main">
            <a:off x="6381750" y="1382183"/>
            <a:ext cx="4895850" cy="3807883"/>
          </a:xfrm>
          <a:prstGeom xmlns:a="http://schemas.openxmlformats.org/drawingml/2006/main" prst="roundRect">
            <a:avLst>
              <a:gd name="adj" fmla="val 2553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7E623F-6BE8-4C40-B641-8E982FD9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43650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885356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BCAAC0-7ECB-47A9-B3EB-4907C9E43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DAD461-A954-4889-A740-0EB9176B2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LEARNING MAP + RETRIEVAL STARTER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FB1291-4808-4202-A60F-00DC0895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rPr>
              <a:t>Three ideas to connect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24ECD8-F01C-4AD5-8C59-8335819B5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C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26541F-4065-424E-963D-72F476204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75E6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75E68"/>
                </a:solidFill>
                <a:latin typeface="Aptos"/>
                <a:ea typeface="Aptos"/>
                <a:cs typeface="Aptos"/>
              </a:rPr>
              <a:t>YEAR 9 TEXTILES · MODULE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DB2325-2B44-4CAB-A783-8E2D88DEB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62700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6AAF36-94F8-496F-81ED-1E36D9E11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72390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BEA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C26E18-E867-433D-B954-95001DB49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240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426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843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432F22-29FD-4B77-A0BE-A1D09A44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85950"/>
            <a:ext cx="600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Working safely in the textiles room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5887AC-1E43-4FAA-9697-0B3AD1D2B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28850"/>
            <a:ext cx="600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14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Stop a jammed or unusually noisy machine and ask the teacher for help.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BFF64D-F7A8-4428-B2E5-B614F106A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72390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DCE9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643029-503A-486B-A5E2-5B10A9DBB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670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55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843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0858DD-19DE-4885-B67C-2136399B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28950"/>
            <a:ext cx="600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1655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416554"/>
                </a:solidFill>
                <a:latin typeface="Aptos"/>
                <a:ea typeface="Aptos"/>
                <a:cs typeface="Aptos"/>
              </a:rPr>
              <a:t>Sewing-machine setup and control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3B5B40-319B-4843-A042-C6A4A096E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71850"/>
            <a:ext cx="600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512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Paper sewing develops steering, starting, stopping and turning control.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6210AB-E799-4199-A9EB-FD35682B3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72390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71513B-C356-4DE3-9E95-2E2F8C1CE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100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91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843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27DB8B-D72D-475A-B42A-A55E00A79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71950"/>
            <a:ext cx="600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7C5916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7C5916"/>
                </a:solidFill>
                <a:latin typeface="Aptos"/>
                <a:ea typeface="Aptos"/>
                <a:cs typeface="Aptos"/>
              </a:rPr>
              <a:t>Pincushion practice and reflection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88212C-4D94-48A8-901C-5F010064C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14850"/>
            <a:ext cx="600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A pincushion is judged first by how safely and securely it holds pins.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B659B5-2F2C-4296-8E21-3E8EF3401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33550"/>
            <a:ext cx="3257550" cy="32766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d51fe5d62441fc"/>
          <a:stretch xmlns:a="http://schemas.openxmlformats.org/drawingml/2006/main"/>
        </p:blipFill>
        <p:spPr>
          <a:xfrm xmlns:a="http://schemas.openxmlformats.org/drawingml/2006/main">
            <a:off x="8496300" y="2215356"/>
            <a:ext cx="2762250" cy="1150938"/>
          </a:xfrm>
          <a:prstGeom xmlns:a="http://schemas.openxmlformats.org/drawingml/2006/main" prst="roundRect">
            <a:avLst>
              <a:gd name="adj" fmla="val 6316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6C9D2D-9295-4366-9264-B972AF94B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848100"/>
            <a:ext cx="2724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RETRIEVE FIRST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CBC903-09A2-4FE0-9123-B18C4B4D1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71950"/>
            <a:ext cx="2571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Without notes: say one fact you already know and one question you need answered.</a:t>
            </a:r>
          </a:p>
        </p:txBody>
      </p:sp>
    </p:spTree>
    <p:extLst>
      <p:ext uri="{BB962C8B-B14F-4D97-AF65-F5344CB8AC3E}">
        <p14:creationId xmlns:p14="http://schemas.microsoft.com/office/powerpoint/2010/main" val="10540718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C29A30-1027-4F5D-92F9-2BD164311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7A67E5-95F9-4C67-BA9A-2BF262A8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THEORY 1 OF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F506DA-6582-4528-92FD-AED2E858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rPr>
              <a:t>Working safely in the textiles room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F6276C-F95B-449D-AA30-CF5A8B20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C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878689-3686-4DDA-A680-88F37D10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75E6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75E68"/>
                </a:solidFill>
                <a:latin typeface="Aptos"/>
                <a:ea typeface="Aptos"/>
                <a:cs typeface="Aptos"/>
              </a:rPr>
              <a:t>YEAR 9 TEXTILES · MODULE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5F9A5D-FF3F-4888-849D-7A8B6058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62700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7B9918-E06E-40C5-835F-99429E1E8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314950" cy="3219450"/>
          </a:xfrm>
          <a:prstGeom xmlns:a="http://schemas.openxmlformats.org/drawingml/2006/main" prst="roundRect">
            <a:avLst>
              <a:gd name="adj" fmla="val 35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A9B286-053D-4D53-8EC7-0FA1D16C2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81200"/>
            <a:ext cx="4781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UNDERSTAND THE IDEA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1FC536-BCCA-4F70-8A41-12A086A99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0300"/>
            <a:ext cx="47815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905"/>
          </a:bodyPr>
          <a:lstStyle xmlns:a="http://schemas.openxmlformats.org/drawingml/2006/main"/>
          <a:p xmlns:a="http://schemas.openxmlformats.org/drawingml/2006/main">
            <a:pPr marL="28" indent="-18" algn="l">
              <a:spcAft>
                <a:spcPts val="12"/>
              </a:spcAft>
              <a:buChar char="•"/>
              <a:defRPr sz="172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Stop a jammed or unusually noisy machine and ask the teacher for help. </a:t>
            </a: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Stopping prevents a small fault becoming an injury or equipment failure.</a:t>
            </a:r>
          </a:p>
          <a:p xmlns:a="http://schemas.openxmlformats.org/drawingml/2006/main">
            <a:pPr marL="28" indent="-18" algn="l">
              <a:spcAft>
                <a:spcPts val="12"/>
              </a:spcAft>
              <a:buChar char="•"/>
              <a:defRPr sz="172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Keep threads, pins and electrical leads controlled and off walkways. </a:t>
            </a: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Clear movement areas reduce slip and trip risks.</a:t>
            </a:r>
          </a:p>
          <a:p xmlns:a="http://schemas.openxmlformats.org/drawingml/2006/main">
            <a:pPr marL="28" indent="-18" algn="l">
              <a:spcAft>
                <a:spcPts val="12"/>
              </a:spcAft>
              <a:buChar char="•"/>
              <a:defRPr sz="172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Carry closed scissors by the blades and offer the handles first. </a:t>
            </a: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The receiving person can take the tool without contacting the sharp end.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ABFC6D-BA7D-46A5-8C1C-8514D1154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52600"/>
            <a:ext cx="5314950" cy="3219450"/>
          </a:xfrm>
          <a:prstGeom xmlns:a="http://schemas.openxmlformats.org/drawingml/2006/main" prst="roundRect">
            <a:avLst>
              <a:gd name="adj" fmla="val 35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e2e7cebcb746a0"/>
          <a:stretch xmlns:a="http://schemas.openxmlformats.org/drawingml/2006/main"/>
        </p:blipFill>
        <p:spPr>
          <a:xfrm xmlns:a="http://schemas.openxmlformats.org/drawingml/2006/main">
            <a:off x="6419850" y="2274094"/>
            <a:ext cx="4857750" cy="2024063"/>
          </a:xfrm>
          <a:prstGeom xmlns:a="http://schemas.openxmlformats.org/drawingml/2006/main" prst="roundRect">
            <a:avLst>
              <a:gd name="adj" fmla="val 4317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5D4167-D311-4F2E-8D17-158C6103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29150"/>
            <a:ext cx="478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75E6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75E68"/>
                </a:solidFill>
                <a:latin typeface="Aptos"/>
                <a:ea typeface="Aptos"/>
                <a:cs typeface="Aptos"/>
              </a:rPr>
              <a:t>SEE THE RELATIONSHIP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17341A-1785-4B33-A268-1E625148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BEAF1"/>
          </a:solidFill>
          <a:ln xmlns:a="http://schemas.openxmlformats.org/drawingml/2006/main" w="9525">
            <a:solidFill>
              <a:srgbClr val="F1CC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EA920D-4DE3-4131-B55F-70EBC7F9E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102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EVIDENCE PROMPT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B3B544-B613-4BFC-98B9-9A89EB01C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353050"/>
            <a:ext cx="828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Explain three actions that make the textiles room safer and why each action matters.</a:t>
            </a:r>
          </a:p>
        </p:txBody>
      </p:sp>
    </p:spTree>
    <p:extLst>
      <p:ext uri="{BB962C8B-B14F-4D97-AF65-F5344CB8AC3E}">
        <p14:creationId xmlns:p14="http://schemas.microsoft.com/office/powerpoint/2010/main" val="8164233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D2F955-4809-402A-BE89-E15AABEC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1D7DCA-5384-4A0F-8A55-E08A30224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THEORY 2 OF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18CDC3-281E-4A20-99F7-747D7D9ED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rPr>
              <a:t>Sewing-machine setup and control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FE721D-FA3F-48F0-9675-4D158418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C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C412B8-5D3C-4014-B025-D935A0CDC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75E6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75E68"/>
                </a:solidFill>
                <a:latin typeface="Aptos"/>
                <a:ea typeface="Aptos"/>
                <a:cs typeface="Aptos"/>
              </a:rPr>
              <a:t>YEAR 9 TEXTILES · MODULE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E4E0EE-9E01-4CBA-A154-A85E3821F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62700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F9850A-E59E-46AB-BBED-D2E584586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52600"/>
            <a:ext cx="5314950" cy="3219450"/>
          </a:xfrm>
          <a:prstGeom xmlns:a="http://schemas.openxmlformats.org/drawingml/2006/main" prst="roundRect">
            <a:avLst>
              <a:gd name="adj" fmla="val 35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C14A86-1B6C-403B-9CEA-28BDC2467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81200"/>
            <a:ext cx="4781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UNDERSTAND THE IDEA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F74D91-E39E-4827-A2C3-6BAFE4060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00300"/>
            <a:ext cx="47815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905"/>
          </a:bodyPr>
          <a:lstStyle xmlns:a="http://schemas.openxmlformats.org/drawingml/2006/main"/>
          <a:p xmlns:a="http://schemas.openxmlformats.org/drawingml/2006/main">
            <a:pPr marL="28" indent="-18" algn="l">
              <a:spcAft>
                <a:spcPts val="12"/>
              </a:spcAft>
              <a:buChar char="•"/>
              <a:defRPr sz="172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Paper sewing develops steering, starting, stopping and turning control. </a:t>
            </a: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It isolates machine control before fabric and thread add complexity.</a:t>
            </a:r>
          </a:p>
          <a:p xmlns:a="http://schemas.openxmlformats.org/drawingml/2006/main">
            <a:pPr marL="28" indent="-18" algn="l">
              <a:spcAft>
                <a:spcPts val="12"/>
              </a:spcAft>
              <a:buChar char="•"/>
              <a:defRPr sz="172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Accuracy matters more than speed when learning machine control. </a:t>
            </a: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Slow deliberate movement gives time to follow lines and respond safely.</a:t>
            </a:r>
          </a:p>
          <a:p xmlns:a="http://schemas.openxmlformats.org/drawingml/2006/main">
            <a:pPr marL="28" indent="-18" algn="l">
              <a:spcAft>
                <a:spcPts val="12"/>
              </a:spcAft>
              <a:buChar char="•"/>
              <a:defRPr sz="172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Turn the electricity off while threading the needle. </a:t>
            </a: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This prevents accidental movement while fingers are near the needle.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D06A5F-0DCB-4E59-AAAE-3808C3ECE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314950" cy="3219450"/>
          </a:xfrm>
          <a:prstGeom xmlns:a="http://schemas.openxmlformats.org/drawingml/2006/main" prst="roundRect">
            <a:avLst>
              <a:gd name="adj" fmla="val 3550"/>
            </a:avLst>
          </a:prstGeom>
          <a:solidFill xmlns:a="http://schemas.openxmlformats.org/drawingml/2006/main">
            <a:srgbClr val="FBEAF1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38AF30-772B-49CC-86EA-79F4E0689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85950"/>
            <a:ext cx="45529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1CC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3EB77A-E04A-4DD7-BAFD-EAFBC3AC6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097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FA4050-177D-4E9D-8E76-57D35FE3A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962150"/>
            <a:ext cx="350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Paper sewing develops steering, starting, stopping and turning control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BBF674-BA84-44CA-A084-728EA62F6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45529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DCE9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32E1DE-CE33-4A32-AA29-22CC1A2D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051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55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258B16-66B8-4643-BCF4-151B44EB6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857500"/>
            <a:ext cx="350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1655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16554"/>
                </a:solidFill>
                <a:latin typeface="Aptos"/>
                <a:ea typeface="Aptos"/>
                <a:cs typeface="Aptos"/>
              </a:rPr>
              <a:t>Accuracy matters more than speed when learning machine control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7827AA-EDA1-4310-8637-7AC8D8DE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76650"/>
            <a:ext cx="45529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DC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662C1A-D35D-44F5-A7FD-19DC6E857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004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91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1C1240-F295-40D1-952D-FF7F6398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752850"/>
            <a:ext cx="350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C591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C5916"/>
                </a:solidFill>
                <a:latin typeface="Aptos"/>
                <a:ea typeface="Aptos"/>
                <a:cs typeface="Aptos"/>
              </a:rPr>
              <a:t>Turn the electricity off while threading the needle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2B2CC4-F1BE-4140-9CD3-BD4435B77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705350"/>
            <a:ext cx="36766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F0E950-E0C4-41D1-A0ED-9CDE653CC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7202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CONNECT THE IDEA — DO NOT JUST LIST 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658341-6E94-4B67-8F02-ED013BF4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BEAF1"/>
          </a:solidFill>
          <a:ln xmlns:a="http://schemas.openxmlformats.org/drawingml/2006/main" w="9525">
            <a:solidFill>
              <a:srgbClr val="F1CCD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96974D-A538-41B9-9B06-945BE98AF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102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EVIDENCE PROMPT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C263B2-35E5-4D37-8A5D-AEB838BB6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353050"/>
            <a:ext cx="828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Describe how you would build confidence from paper sewing to correctly threaded fabric sewing.</a:t>
            </a:r>
          </a:p>
        </p:txBody>
      </p:sp>
    </p:spTree>
    <p:extLst>
      <p:ext uri="{BB962C8B-B14F-4D97-AF65-F5344CB8AC3E}">
        <p14:creationId xmlns:p14="http://schemas.microsoft.com/office/powerpoint/2010/main" val="1200885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3CC907-31A6-47DA-8E36-9FB9C4C07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745B15-B7CB-4305-BC1F-A4771B7F7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THEORY 3 OF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B76F05-E4A3-4008-BF0A-DD141B823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rPr>
              <a:t>Pincushion practice and reflection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3CC42D-0978-4826-AAA4-1EF04F2B2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C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8B198E-A906-4D00-B959-B3962AE62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75E6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75E68"/>
                </a:solidFill>
                <a:latin typeface="Aptos"/>
                <a:ea typeface="Aptos"/>
                <a:cs typeface="Aptos"/>
              </a:rPr>
              <a:t>YEAR 9 TEXTILES · MODULE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28E946-5226-45EE-B801-627764A55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62700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F15C16-AEAE-4646-9B0D-DDCF19A3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314950" cy="3219450"/>
          </a:xfrm>
          <a:prstGeom xmlns:a="http://schemas.openxmlformats.org/drawingml/2006/main" prst="roundRect">
            <a:avLst>
              <a:gd name="adj" fmla="val 35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6B792B-3655-4CF6-902C-5344005AA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81200"/>
            <a:ext cx="4781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UNDERSTAND THE IDEA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5F468D-C085-4010-A3D0-7907B5D9F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0300"/>
            <a:ext cx="47815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905"/>
          </a:bodyPr>
          <a:lstStyle xmlns:a="http://schemas.openxmlformats.org/drawingml/2006/main"/>
          <a:p xmlns:a="http://schemas.openxmlformats.org/drawingml/2006/main">
            <a:pPr marL="28" indent="-18" algn="l">
              <a:spcAft>
                <a:spcPts val="12"/>
              </a:spcAft>
              <a:buChar char="•"/>
              <a:defRPr sz="172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A pincushion is judged first by how safely and securely it holds pins. </a:t>
            </a: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Function is part of the design brief, not an optional decoration.</a:t>
            </a:r>
          </a:p>
          <a:p xmlns:a="http://schemas.openxmlformats.org/drawingml/2006/main">
            <a:pPr marL="28" indent="-18" algn="l">
              <a:spcAft>
                <a:spcPts val="12"/>
              </a:spcAft>
              <a:buChar char="•"/>
              <a:defRPr sz="172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Consistent shape and filling affect the product's usefulness. </a:t>
            </a: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Uneven or loose filling can make pins unstable.</a:t>
            </a:r>
          </a:p>
          <a:p xmlns:a="http://schemas.openxmlformats.org/drawingml/2006/main">
            <a:pPr marL="28" indent="-18" algn="l">
              <a:spcAft>
                <a:spcPts val="12"/>
              </a:spcAft>
              <a:buChar char="•"/>
              <a:defRPr sz="172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An evaluation identifies achievements as well as difficulties. </a:t>
            </a: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Balanced reflection shows what to repeat and what to improve.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0A95FB-DF2C-466F-8F98-B4C782F1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52600"/>
            <a:ext cx="5314950" cy="3219450"/>
          </a:xfrm>
          <a:prstGeom xmlns:a="http://schemas.openxmlformats.org/drawingml/2006/main" prst="roundRect">
            <a:avLst>
              <a:gd name="adj" fmla="val 35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664daa38ec423e"/>
          <a:stretch xmlns:a="http://schemas.openxmlformats.org/drawingml/2006/main"/>
        </p:blipFill>
        <p:spPr>
          <a:xfrm xmlns:a="http://schemas.openxmlformats.org/drawingml/2006/main">
            <a:off x="6419850" y="2274094"/>
            <a:ext cx="4857750" cy="2024063"/>
          </a:xfrm>
          <a:prstGeom xmlns:a="http://schemas.openxmlformats.org/drawingml/2006/main" prst="roundRect">
            <a:avLst>
              <a:gd name="adj" fmla="val 4317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3D3233-E011-4733-AE0D-7D8E2F5F0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29150"/>
            <a:ext cx="478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75E6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75E68"/>
                </a:solidFill>
                <a:latin typeface="Aptos"/>
                <a:ea typeface="Aptos"/>
                <a:cs typeface="Aptos"/>
              </a:rPr>
              <a:t>SEE THE RELATIONSHIP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EE942B-FE52-4764-8416-7B0A57CC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BEAF1"/>
          </a:solidFill>
          <a:ln xmlns:a="http://schemas.openxmlformats.org/drawingml/2006/main" w="9525">
            <a:solidFill>
              <a:srgbClr val="F1CC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C32418-6D91-43AA-84DB-F6D878B24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102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EVIDENCE PROMPT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BD18E0-6644-413D-9F1E-5FB41F52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353050"/>
            <a:ext cx="828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Evaluate a practice pincushion by discussing function, presentation, one achievement and one improvement.</a:t>
            </a:r>
          </a:p>
        </p:txBody>
      </p:sp>
    </p:spTree>
    <p:extLst>
      <p:ext uri="{BB962C8B-B14F-4D97-AF65-F5344CB8AC3E}">
        <p14:creationId xmlns:p14="http://schemas.microsoft.com/office/powerpoint/2010/main" val="16808273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09AD2F-35F1-400A-9AA7-7987E432C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F31CAF-7C65-453D-8FAD-14335CBDF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NO NOTES FOR THE FIRST ATTEMPT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048959-00A3-49FC-B8AF-B090A936A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rPr>
              <a:t>Retrieve before you check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58C790-1608-4D47-821B-FCA077871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C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B98952-946F-4600-B8DF-F09D1705D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75E6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75E68"/>
                </a:solidFill>
                <a:latin typeface="Aptos"/>
                <a:ea typeface="Aptos"/>
                <a:cs typeface="Aptos"/>
              </a:rPr>
              <a:t>YEAR 9 TEXTILES · MODULE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3E2402-8A47-44F5-9E3A-DB2A19D67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62700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CE7E44-EC2E-43E7-9AB0-A2468B85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371850" cy="32766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BEA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BC4E89-2CF3-45EC-A562-2CA03F14F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6C6539-D169-4052-BC2D-84AA8ADAB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6550"/>
            <a:ext cx="2914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Working safely in the textiles room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54B017-3571-4FAB-8078-7E39FB145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29146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Define working safely in the textiles room in your own words and give one course example.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9C3082-8CE3-4A87-BA7B-24ED44B0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09750"/>
            <a:ext cx="3371850" cy="32766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DCE9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7166AC-6EEE-432C-BDFF-92F52655A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55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953942-6634-453F-8AA2-BE747F758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76550"/>
            <a:ext cx="2914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1655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416554"/>
                </a:solidFill>
                <a:latin typeface="Aptos"/>
                <a:ea typeface="Aptos"/>
                <a:cs typeface="Aptos"/>
              </a:rPr>
              <a:t>Sewing-machine setup and control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31307D-CB7D-4B46-985E-B38C257B9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14750"/>
            <a:ext cx="29146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Why does sewing-machine setup and control matter to a successful textile outcome?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A4279B-635A-4A7F-A26C-786D67E5E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09750"/>
            <a:ext cx="3371850" cy="32766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7B75B4-C19C-41AE-9078-6255DB68D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91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C1B135-50A3-4B84-A5E9-EA9C6D86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76550"/>
            <a:ext cx="2914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C591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7C5916"/>
                </a:solidFill>
                <a:latin typeface="Aptos"/>
                <a:ea typeface="Aptos"/>
                <a:cs typeface="Aptos"/>
              </a:rPr>
              <a:t>Pincushion practice and reflection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3F20A9-52AB-46D4-B90A-A46A9210E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14750"/>
            <a:ext cx="29146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What evidence would prove you understand pincushion practice and reflection?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6B78E7-7117-42DD-A633-2D4DF4B1D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Attempt → check the module → correct in a different colour</a:t>
            </a:r>
          </a:p>
        </p:txBody>
      </p:sp>
    </p:spTree>
    <p:extLst>
      <p:ext uri="{BB962C8B-B14F-4D97-AF65-F5344CB8AC3E}">
        <p14:creationId xmlns:p14="http://schemas.microsoft.com/office/powerpoint/2010/main" val="7235006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AA9C6D-5B31-4B10-BDAA-C1F97BE1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7EBAFB-F1F6-45BA-9F53-A130BAA53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READ → SELECT → EXPLAIN →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9ACFD3-F6F5-4FB8-8A79-F3DF1AF0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rPr>
              <a:t>Build one strong written response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85BE39-3982-4260-8437-337176A50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C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B81C6E-053A-4568-9602-9A535CC08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75E6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75E68"/>
                </a:solidFill>
                <a:latin typeface="Aptos"/>
                <a:ea typeface="Aptos"/>
                <a:cs typeface="Aptos"/>
              </a:rPr>
              <a:t>YEAR 9 TEXTILES · MODULE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BBEC25-5A76-47C7-867F-07BCB1F50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62700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ED7655-8497-4C26-8FCA-B74677932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F890EF-B9F7-47F8-9874-F2E92A329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QUESTION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80A53E-6B19-4362-9DC9-EABAA5372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790700"/>
            <a:ext cx="902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Evaluate a practice pincushion by discussing function, presentation, one achievement and one improvement.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4EFEAD-2924-4A92-9DAB-7067FBB6C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24765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BEAF1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591F85-7B26-47CA-B4DF-2D17860F7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43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DE8C73-F25F-486D-B551-DF114CEF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0040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READ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BEA3B1-D706-48E4-AD4E-0A598CE7B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20193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Underline the action word and the exact topic.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679435-534A-4014-B6C7-7114291AC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952750"/>
            <a:ext cx="24765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D09740-58CA-49E8-94DC-E95995D97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143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426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9B04F7-F942-4D5E-9549-16661CD30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20040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SELECT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90D830-B4A2-46B7-8E76-FDAB58671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90950"/>
            <a:ext cx="20193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Choose two or three course facts that answer it.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0BC6D1-EC02-4D55-8449-079CA595C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52750"/>
            <a:ext cx="24765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BEAF1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BD6E3A-8533-4580-8C70-B4C565254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43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55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CFBA7B-189F-4133-A4E9-4039C53ED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20040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1655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416554"/>
                </a:solidFill>
                <a:latin typeface="Aptos"/>
                <a:ea typeface="Aptos"/>
                <a:cs typeface="Aptos"/>
              </a:rPr>
              <a:t>EXPLAIN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FF157E-507D-4863-A77F-A0DAD6852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90950"/>
            <a:ext cx="20193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Link each fact to why it matters or what it proves.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492587-6839-43C2-8C85-31B4C2BFC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52750"/>
            <a:ext cx="24765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DBA05E-15D3-43FB-969B-FF1E6CF4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143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91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27E70B-C4A5-489B-A560-9A1F15BB6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20040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7C5916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7C5916"/>
                </a:solidFill>
                <a:latin typeface="Aptos"/>
                <a:ea typeface="Aptos"/>
                <a:cs typeface="Aptos"/>
              </a:rPr>
              <a:t>CHECK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C2EA53-48A9-481C-AF1B-993D155CE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790950"/>
            <a:ext cx="20193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391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Return to the question; correct gaps and vague words.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779085-77D8-4FB5-8833-B3F8E0D69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Strong responses use evidence and reasoning—not a copied paragraph.</a:t>
            </a:r>
          </a:p>
        </p:txBody>
      </p:sp>
    </p:spTree>
    <p:extLst>
      <p:ext uri="{BB962C8B-B14F-4D97-AF65-F5344CB8AC3E}">
        <p14:creationId xmlns:p14="http://schemas.microsoft.com/office/powerpoint/2010/main" val="20044230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6FE16A-9C64-4A1E-AFA4-670E91A2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C3EC4F-63E8-449C-A67E-4B2548B92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EXIT TICKET + NEXT STEP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4A4E5A-ECF2-4598-A74A-CE3F25AA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rPr>
              <a:t>Finish with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C74593-639B-4F88-8419-181CFD1B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C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9C26E3-ED48-449A-8077-ED6749F26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75E6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75E68"/>
                </a:solidFill>
                <a:latin typeface="Aptos"/>
                <a:ea typeface="Aptos"/>
                <a:cs typeface="Aptos"/>
              </a:rPr>
              <a:t>YEAR 9 TEXTILES · MODULE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6D33B3-81CF-4A10-9735-BE7551D87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62700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F3F692-652C-4FAA-945F-C044E7940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238750" cy="35814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36AFC6-B2EC-4701-8722-A3309517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955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DC77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DC777"/>
                </a:solidFill>
                <a:latin typeface="Aptos"/>
                <a:ea typeface="Aptos"/>
                <a:cs typeface="Aptos"/>
              </a:rPr>
              <a:t>EXIT TICKET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A234A6-3C09-4924-91A0-53F56D2B5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C77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522585-9D02-4010-AB93-88D1D0C4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72415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Name one idea you can now explain accurately.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F74FE6-6865-42EB-BA42-8125DE918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623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C77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39D44D-374F-4CC4-B902-7E1E94605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50520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Identify one correction you made after retrieval.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2FCBC9-7365-46F3-90F6-06C3FE6A1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434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C77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B251C5-4F78-4C42-B9BB-795749F9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28625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State the evidence you will save from this module.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D3E7E1-BD9D-4184-B231-88A680D95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52600"/>
            <a:ext cx="527685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64FAB1-4FA9-4C3A-B3CD-29A6A948A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5740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SAVE THIS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EE11EF-155B-4AD7-85DF-A909C23C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71750"/>
            <a:ext cx="4667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Safety reflection, sewing-machine confidence check and pincushion evaluation.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E4BCC1-0842-463C-8116-EE250F58C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248150"/>
            <a:ext cx="527685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CE9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9D0E12-ACCC-450D-B889-F4081D438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577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1655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16554"/>
                </a:solidFill>
                <a:latin typeface="Aptos"/>
                <a:ea typeface="Aptos"/>
                <a:cs typeface="Aptos"/>
              </a:rPr>
              <a:t>NEXT STEP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B1D261-6ED3-42F6-8256-06F721508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00550"/>
            <a:ext cx="3371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695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Return to the module page, complete the evidence prompt and use teacher directions for practical work.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4C8C03-7DC7-464F-AB31-C7CA4299C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Explain it. Check it. Save it.</a:t>
            </a:r>
          </a:p>
        </p:txBody>
      </p:sp>
    </p:spTree>
    <p:extLst>
      <p:ext uri="{BB962C8B-B14F-4D97-AF65-F5344CB8AC3E}">
        <p14:creationId xmlns:p14="http://schemas.microsoft.com/office/powerpoint/2010/main" val="15930488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2026-08-18T02:09:42.6960000Z</dcterms:created>
  <dcterms:modified xsi:type="dcterms:W3CDTF">2026-08-18T02:09:42.6960000Z</dcterms:modified>
</coreProperties>
</file>